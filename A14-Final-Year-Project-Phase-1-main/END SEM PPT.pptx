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sldIdLst>
    <p:sldId id="375" r:id="rId2"/>
    <p:sldId id="257" r:id="rId3"/>
    <p:sldId id="368" r:id="rId4"/>
    <p:sldId id="369" r:id="rId5"/>
    <p:sldId id="370" r:id="rId6"/>
    <p:sldId id="372" r:id="rId7"/>
    <p:sldId id="374" r:id="rId8"/>
    <p:sldId id="376" r:id="rId9"/>
    <p:sldId id="377" r:id="rId10"/>
    <p:sldId id="378" r:id="rId11"/>
    <p:sldId id="373" r:id="rId12"/>
    <p:sldId id="3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102BFF-3929-4B13-BCB5-D203AA93182D}" v="10" dt="2025-11-26T15:24:00.4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ushri G V S" userId="392be8da29f97bdf" providerId="LiveId" clId="{C51C1CAB-A6A0-4924-9109-442740CB43A3}"/>
    <pc:docChg chg="modSld">
      <pc:chgData name="Tanushri G V S" userId="392be8da29f97bdf" providerId="LiveId" clId="{C51C1CAB-A6A0-4924-9109-442740CB43A3}" dt="2025-11-26T15:25:48.754" v="28" actId="20577"/>
      <pc:docMkLst>
        <pc:docMk/>
      </pc:docMkLst>
      <pc:sldChg chg="addSp modSp mod">
        <pc:chgData name="Tanushri G V S" userId="392be8da29f97bdf" providerId="LiveId" clId="{C51C1CAB-A6A0-4924-9109-442740CB43A3}" dt="2025-11-26T15:20:47.403" v="5" actId="123"/>
        <pc:sldMkLst>
          <pc:docMk/>
          <pc:sldMk cId="0" sldId="257"/>
        </pc:sldMkLst>
        <pc:spChg chg="mod">
          <ac:chgData name="Tanushri G V S" userId="392be8da29f97bdf" providerId="LiveId" clId="{C51C1CAB-A6A0-4924-9109-442740CB43A3}" dt="2025-11-26T15:20:47.403" v="5" actId="123"/>
          <ac:spMkLst>
            <pc:docMk/>
            <pc:sldMk cId="0" sldId="257"/>
            <ac:spMk id="3" creationId="{00000000-0000-0000-0000-000000000000}"/>
          </ac:spMkLst>
        </pc:spChg>
        <pc:spChg chg="add">
          <ac:chgData name="Tanushri G V S" userId="392be8da29f97bdf" providerId="LiveId" clId="{C51C1CAB-A6A0-4924-9109-442740CB43A3}" dt="2025-11-26T15:20:05.302" v="0"/>
          <ac:spMkLst>
            <pc:docMk/>
            <pc:sldMk cId="0" sldId="257"/>
            <ac:spMk id="7" creationId="{D8E1D678-206F-E339-162D-C11908B57B28}"/>
          </ac:spMkLst>
        </pc:spChg>
        <pc:spChg chg="add">
          <ac:chgData name="Tanushri G V S" userId="392be8da29f97bdf" providerId="LiveId" clId="{C51C1CAB-A6A0-4924-9109-442740CB43A3}" dt="2025-11-26T15:20:05.302" v="0"/>
          <ac:spMkLst>
            <pc:docMk/>
            <pc:sldMk cId="0" sldId="257"/>
            <ac:spMk id="8" creationId="{3D0F9990-5B9B-F0C3-B8F7-4F286A930187}"/>
          </ac:spMkLst>
        </pc:spChg>
        <pc:spChg chg="add">
          <ac:chgData name="Tanushri G V S" userId="392be8da29f97bdf" providerId="LiveId" clId="{C51C1CAB-A6A0-4924-9109-442740CB43A3}" dt="2025-11-26T15:20:05.302" v="0"/>
          <ac:spMkLst>
            <pc:docMk/>
            <pc:sldMk cId="0" sldId="257"/>
            <ac:spMk id="9" creationId="{86EF0A1A-3434-7DE1-53DC-BB8D8EE604CF}"/>
          </ac:spMkLst>
        </pc:spChg>
        <pc:spChg chg="add">
          <ac:chgData name="Tanushri G V S" userId="392be8da29f97bdf" providerId="LiveId" clId="{C51C1CAB-A6A0-4924-9109-442740CB43A3}" dt="2025-11-26T15:20:11.954" v="1"/>
          <ac:spMkLst>
            <pc:docMk/>
            <pc:sldMk cId="0" sldId="257"/>
            <ac:spMk id="10" creationId="{9AA441F8-4F42-08C8-2EE7-930FFB376ECC}"/>
          </ac:spMkLst>
        </pc:spChg>
        <pc:spChg chg="add">
          <ac:chgData name="Tanushri G V S" userId="392be8da29f97bdf" providerId="LiveId" clId="{C51C1CAB-A6A0-4924-9109-442740CB43A3}" dt="2025-11-26T15:20:11.954" v="1"/>
          <ac:spMkLst>
            <pc:docMk/>
            <pc:sldMk cId="0" sldId="257"/>
            <ac:spMk id="11" creationId="{18642B4F-761C-E693-6D8D-7FB3A91BDA8B}"/>
          </ac:spMkLst>
        </pc:spChg>
        <pc:spChg chg="add">
          <ac:chgData name="Tanushri G V S" userId="392be8da29f97bdf" providerId="LiveId" clId="{C51C1CAB-A6A0-4924-9109-442740CB43A3}" dt="2025-11-26T15:20:11.954" v="1"/>
          <ac:spMkLst>
            <pc:docMk/>
            <pc:sldMk cId="0" sldId="257"/>
            <ac:spMk id="12" creationId="{0F7726F0-0EFC-849F-17D1-F7B9A3E1A2E8}"/>
          </ac:spMkLst>
        </pc:spChg>
        <pc:spChg chg="add">
          <ac:chgData name="Tanushri G V S" userId="392be8da29f97bdf" providerId="LiveId" clId="{C51C1CAB-A6A0-4924-9109-442740CB43A3}" dt="2025-11-26T15:20:18.923" v="2"/>
          <ac:spMkLst>
            <pc:docMk/>
            <pc:sldMk cId="0" sldId="257"/>
            <ac:spMk id="13" creationId="{13C5AA6D-F3E8-41BB-7409-57217F79E5DC}"/>
          </ac:spMkLst>
        </pc:spChg>
        <pc:spChg chg="add">
          <ac:chgData name="Tanushri G V S" userId="392be8da29f97bdf" providerId="LiveId" clId="{C51C1CAB-A6A0-4924-9109-442740CB43A3}" dt="2025-11-26T15:20:18.923" v="2"/>
          <ac:spMkLst>
            <pc:docMk/>
            <pc:sldMk cId="0" sldId="257"/>
            <ac:spMk id="14" creationId="{3455E485-2325-DAC1-CF48-9BB61EBDCEF2}"/>
          </ac:spMkLst>
        </pc:spChg>
        <pc:spChg chg="add">
          <ac:chgData name="Tanushri G V S" userId="392be8da29f97bdf" providerId="LiveId" clId="{C51C1CAB-A6A0-4924-9109-442740CB43A3}" dt="2025-11-26T15:20:18.923" v="2"/>
          <ac:spMkLst>
            <pc:docMk/>
            <pc:sldMk cId="0" sldId="257"/>
            <ac:spMk id="15" creationId="{142927A8-9358-F281-7A0E-3C08D03770BC}"/>
          </ac:spMkLst>
        </pc:spChg>
      </pc:sldChg>
      <pc:sldChg chg="modSp mod">
        <pc:chgData name="Tanushri G V S" userId="392be8da29f97bdf" providerId="LiveId" clId="{C51C1CAB-A6A0-4924-9109-442740CB43A3}" dt="2025-11-26T15:22:25.610" v="11" actId="20577"/>
        <pc:sldMkLst>
          <pc:docMk/>
          <pc:sldMk cId="0" sldId="368"/>
        </pc:sldMkLst>
        <pc:spChg chg="mod">
          <ac:chgData name="Tanushri G V S" userId="392be8da29f97bdf" providerId="LiveId" clId="{C51C1CAB-A6A0-4924-9109-442740CB43A3}" dt="2025-11-26T15:22:25.610" v="11" actId="20577"/>
          <ac:spMkLst>
            <pc:docMk/>
            <pc:sldMk cId="0" sldId="368"/>
            <ac:spMk id="3" creationId="{00000000-0000-0000-0000-000000000000}"/>
          </ac:spMkLst>
        </pc:spChg>
      </pc:sldChg>
      <pc:sldChg chg="modSp mod">
        <pc:chgData name="Tanushri G V S" userId="392be8da29f97bdf" providerId="LiveId" clId="{C51C1CAB-A6A0-4924-9109-442740CB43A3}" dt="2025-11-26T15:23:00.893" v="14" actId="123"/>
        <pc:sldMkLst>
          <pc:docMk/>
          <pc:sldMk cId="0" sldId="370"/>
        </pc:sldMkLst>
        <pc:spChg chg="mod">
          <ac:chgData name="Tanushri G V S" userId="392be8da29f97bdf" providerId="LiveId" clId="{C51C1CAB-A6A0-4924-9109-442740CB43A3}" dt="2025-11-26T15:23:00.893" v="14" actId="123"/>
          <ac:spMkLst>
            <pc:docMk/>
            <pc:sldMk cId="0" sldId="370"/>
            <ac:spMk id="3" creationId="{00000000-0000-0000-0000-000000000000}"/>
          </ac:spMkLst>
        </pc:spChg>
      </pc:sldChg>
      <pc:sldChg chg="modSp mod">
        <pc:chgData name="Tanushri G V S" userId="392be8da29f97bdf" providerId="LiveId" clId="{C51C1CAB-A6A0-4924-9109-442740CB43A3}" dt="2025-11-26T15:24:21.269" v="19" actId="20577"/>
        <pc:sldMkLst>
          <pc:docMk/>
          <pc:sldMk cId="0" sldId="374"/>
        </pc:sldMkLst>
        <pc:spChg chg="mod">
          <ac:chgData name="Tanushri G V S" userId="392be8da29f97bdf" providerId="LiveId" clId="{C51C1CAB-A6A0-4924-9109-442740CB43A3}" dt="2025-11-26T15:24:21.269" v="19" actId="20577"/>
          <ac:spMkLst>
            <pc:docMk/>
            <pc:sldMk cId="0" sldId="374"/>
            <ac:spMk id="3" creationId="{00000000-0000-0000-0000-000000000000}"/>
          </ac:spMkLst>
        </pc:spChg>
      </pc:sldChg>
      <pc:sldChg chg="modSp mod">
        <pc:chgData name="Tanushri G V S" userId="392be8da29f97bdf" providerId="LiveId" clId="{C51C1CAB-A6A0-4924-9109-442740CB43A3}" dt="2025-11-26T15:24:37.177" v="21" actId="20577"/>
        <pc:sldMkLst>
          <pc:docMk/>
          <pc:sldMk cId="1511938237" sldId="376"/>
        </pc:sldMkLst>
        <pc:spChg chg="mod">
          <ac:chgData name="Tanushri G V S" userId="392be8da29f97bdf" providerId="LiveId" clId="{C51C1CAB-A6A0-4924-9109-442740CB43A3}" dt="2025-11-26T15:24:37.177" v="21" actId="20577"/>
          <ac:spMkLst>
            <pc:docMk/>
            <pc:sldMk cId="1511938237" sldId="376"/>
            <ac:spMk id="3" creationId="{5D0B6807-E60F-0462-FE92-3E9B25677CAD}"/>
          </ac:spMkLst>
        </pc:spChg>
      </pc:sldChg>
      <pc:sldChg chg="modSp mod">
        <pc:chgData name="Tanushri G V S" userId="392be8da29f97bdf" providerId="LiveId" clId="{C51C1CAB-A6A0-4924-9109-442740CB43A3}" dt="2025-11-26T15:25:03.960" v="25" actId="20577"/>
        <pc:sldMkLst>
          <pc:docMk/>
          <pc:sldMk cId="1201259055" sldId="377"/>
        </pc:sldMkLst>
        <pc:spChg chg="mod">
          <ac:chgData name="Tanushri G V S" userId="392be8da29f97bdf" providerId="LiveId" clId="{C51C1CAB-A6A0-4924-9109-442740CB43A3}" dt="2025-11-26T15:25:03.960" v="25" actId="20577"/>
          <ac:spMkLst>
            <pc:docMk/>
            <pc:sldMk cId="1201259055" sldId="377"/>
            <ac:spMk id="3" creationId="{6EEB34D5-BEE2-8265-0673-AD1ED0275CBA}"/>
          </ac:spMkLst>
        </pc:spChg>
      </pc:sldChg>
      <pc:sldChg chg="modSp mod">
        <pc:chgData name="Tanushri G V S" userId="392be8da29f97bdf" providerId="LiveId" clId="{C51C1CAB-A6A0-4924-9109-442740CB43A3}" dt="2025-11-26T15:25:48.754" v="28" actId="20577"/>
        <pc:sldMkLst>
          <pc:docMk/>
          <pc:sldMk cId="2434477821" sldId="378"/>
        </pc:sldMkLst>
        <pc:spChg chg="mod">
          <ac:chgData name="Tanushri G V S" userId="392be8da29f97bdf" providerId="LiveId" clId="{C51C1CAB-A6A0-4924-9109-442740CB43A3}" dt="2025-11-26T15:25:48.754" v="28" actId="20577"/>
          <ac:spMkLst>
            <pc:docMk/>
            <pc:sldMk cId="2434477821" sldId="378"/>
            <ac:spMk id="3" creationId="{C5258718-643F-DB95-4CB2-EFC074A96F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Zeroth Review</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Zeroth Review</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Zeroth Review</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Zeroth Review</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16423" y="3195546"/>
            <a:ext cx="9959153" cy="1325563"/>
          </a:xfrm>
          <a:prstGeom prst="rect">
            <a:avLst/>
          </a:prstGeom>
        </p:spPr>
        <p:txBody>
          <a:bodyPr vert="horz" lIns="91440" tIns="45720" rIns="91440" bIns="45720" rtlCol="0" anchor="ctr">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pPr>
            <a:r>
              <a:rPr lang="en-GB" sz="3900" b="1" dirty="0">
                <a:solidFill>
                  <a:srgbClr val="7030A0"/>
                </a:solidFill>
                <a:latin typeface="Times New Roman" panose="02020603050405020304" pitchFamily="18" charset="0"/>
                <a:cs typeface="Times New Roman" panose="02020603050405020304" pitchFamily="18" charset="0"/>
              </a:rPr>
              <a:t>SKILL GAP DETECTION AND JOB FITMENT VIA SELECTION INSIGHT AND REJECTION REASONING</a:t>
            </a:r>
            <a:endParaRPr lang="en-IN" sz="4800" b="1" dirty="0">
              <a:solidFill>
                <a:srgbClr val="7030A0"/>
              </a:solidFill>
              <a:latin typeface="Times New Roman" panose="02020603050405020304" pitchFamily="18" charset="0"/>
              <a:cs typeface="Times New Roman" panose="02020603050405020304" pitchFamily="18" charset="0"/>
            </a:endParaRPr>
          </a:p>
          <a:p>
            <a:pPr>
              <a:lnSpc>
                <a:spcPct val="120000"/>
              </a:lnSpc>
            </a:pPr>
            <a:endParaRPr lang="en-IN" sz="4000" b="1" dirty="0">
              <a:solidFill>
                <a:srgbClr val="7030A0"/>
              </a:solidFill>
              <a:latin typeface="Times New Roman" panose="02020603050405020304" pitchFamily="18" charset="0"/>
              <a:ea typeface="+mn-ea"/>
              <a:cs typeface="Times New Roman" panose="02020603050405020304" pitchFamily="18" charset="0"/>
            </a:endParaRPr>
          </a:p>
        </p:txBody>
      </p:sp>
      <p:sp>
        <p:nvSpPr>
          <p:cNvPr id="10" name="TextBox 1"/>
          <p:cNvSpPr txBox="1">
            <a:spLocks noChangeArrowheads="1"/>
          </p:cNvSpPr>
          <p:nvPr/>
        </p:nvSpPr>
        <p:spPr bwMode="auto">
          <a:xfrm>
            <a:off x="962889" y="5183902"/>
            <a:ext cx="408497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US" altLang="en-US" sz="2200" b="1" dirty="0">
                <a:solidFill>
                  <a:srgbClr val="FF0000"/>
                </a:solidFill>
                <a:latin typeface="Times New Roman" panose="02020603050405020304" pitchFamily="18" charset="0"/>
                <a:cs typeface="Times New Roman" panose="02020603050405020304" pitchFamily="18" charset="0"/>
              </a:rPr>
              <a:t>Mrs. V. DIVYA BHAVANI</a:t>
            </a:r>
          </a:p>
          <a:p>
            <a:pPr>
              <a:spcBef>
                <a:spcPct val="0"/>
              </a:spcBef>
              <a:buClrTx/>
              <a:buFontTx/>
              <a:buNone/>
            </a:pPr>
            <a:r>
              <a:rPr lang="en-US" altLang="en-US" sz="2200" b="1" dirty="0">
                <a:solidFill>
                  <a:srgbClr val="FF0000"/>
                </a:solidFill>
                <a:latin typeface="Times New Roman" panose="02020603050405020304" pitchFamily="18" charset="0"/>
                <a:cs typeface="Times New Roman" panose="02020603050405020304" pitchFamily="18" charset="0"/>
              </a:rPr>
              <a:t>ASSISTANT PROFESSOR</a:t>
            </a:r>
          </a:p>
        </p:txBody>
      </p:sp>
      <p:sp>
        <p:nvSpPr>
          <p:cNvPr id="11" name="TextBox 1"/>
          <p:cNvSpPr txBox="1">
            <a:spLocks noChangeArrowheads="1"/>
          </p:cNvSpPr>
          <p:nvPr/>
        </p:nvSpPr>
        <p:spPr bwMode="auto">
          <a:xfrm>
            <a:off x="7464490" y="5183902"/>
            <a:ext cx="384082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rgbClr val="FF0000"/>
                </a:solidFill>
                <a:latin typeface="Times New Roman" panose="02020603050405020304" pitchFamily="18" charset="0"/>
                <a:cs typeface="Times New Roman" panose="02020603050405020304" pitchFamily="18" charset="0"/>
              </a:rPr>
              <a:t>PRIYADARSHINI S (221801040)</a:t>
            </a:r>
          </a:p>
          <a:p>
            <a:pPr>
              <a:spcBef>
                <a:spcPct val="0"/>
              </a:spcBef>
              <a:buClrTx/>
              <a:buFontTx/>
              <a:buNone/>
            </a:pPr>
            <a:r>
              <a:rPr lang="en-IN" altLang="en-US" sz="2000" b="1" dirty="0">
                <a:solidFill>
                  <a:srgbClr val="FF0000"/>
                </a:solidFill>
                <a:latin typeface="Times New Roman" panose="02020603050405020304" pitchFamily="18" charset="0"/>
                <a:cs typeface="Times New Roman" panose="02020603050405020304" pitchFamily="18" charset="0"/>
              </a:rPr>
              <a:t>SANDHYA J (221801044)</a:t>
            </a:r>
          </a:p>
          <a:p>
            <a:pPr>
              <a:spcBef>
                <a:spcPct val="0"/>
              </a:spcBef>
              <a:buClrTx/>
              <a:buFontTx/>
              <a:buNone/>
            </a:pPr>
            <a:r>
              <a:rPr lang="en-IN" altLang="en-US" sz="2000" b="1" dirty="0">
                <a:solidFill>
                  <a:srgbClr val="FF0000"/>
                </a:solidFill>
                <a:latin typeface="Times New Roman" panose="02020603050405020304" pitchFamily="18" charset="0"/>
                <a:cs typeface="Times New Roman" panose="02020603050405020304" pitchFamily="18" charset="0"/>
              </a:rPr>
              <a:t>TANUSHRI G V S (221801055) </a:t>
            </a:r>
          </a:p>
        </p:txBody>
      </p:sp>
      <p:sp>
        <p:nvSpPr>
          <p:cNvPr id="15" name="Title 1"/>
          <p:cNvSpPr txBox="1"/>
          <p:nvPr/>
        </p:nvSpPr>
        <p:spPr>
          <a:xfrm>
            <a:off x="708891" y="121313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a:t>
            </a:r>
            <a:r>
              <a:rPr lang="en-US" altLang="en-IN" sz="2800" b="1" dirty="0">
                <a:solidFill>
                  <a:srgbClr val="002060"/>
                </a:solidFill>
                <a:latin typeface="Verdana" panose="020B0604030504040204" pitchFamily="34" charset="0"/>
                <a:ea typeface="+mn-ea"/>
                <a:cs typeface="+mn-cs"/>
              </a:rPr>
              <a:t> Artificial Intelligence and Data Science</a:t>
            </a:r>
            <a:r>
              <a:rPr lang="en-IN" sz="2800" b="1" dirty="0">
                <a:solidFill>
                  <a:srgbClr val="002060"/>
                </a:solidFill>
                <a:latin typeface="Verdana" panose="020B0604030504040204" pitchFamily="34" charset="0"/>
                <a:ea typeface="+mn-ea"/>
                <a:cs typeface="+mn-cs"/>
              </a:rPr>
              <a:t> </a:t>
            </a:r>
          </a:p>
        </p:txBody>
      </p:sp>
      <p:pic>
        <p:nvPicPr>
          <p:cNvPr id="8" name="Picture 1"/>
          <p:cNvPicPr>
            <a:picLocks noChangeAspect="1"/>
          </p:cNvPicPr>
          <p:nvPr/>
        </p:nvPicPr>
        <p:blipFill>
          <a:blip r:embed="rId2"/>
          <a:stretch>
            <a:fillRect/>
          </a:stretch>
        </p:blipFill>
        <p:spPr>
          <a:xfrm>
            <a:off x="151765" y="149225"/>
            <a:ext cx="2769235" cy="1054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Problem Statement and Motivation</a:t>
            </a:r>
            <a:endParaRPr lang="en-IN" sz="2800" dirty="0"/>
          </a:p>
        </p:txBody>
      </p:sp>
      <p:sp>
        <p:nvSpPr>
          <p:cNvPr id="3" name="Content Placeholder 2"/>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In today’s competitive job market, many students and job seekers struggle to understand whether their skills match industry expectations or specific job roles. Most candidates are unaware of the exact skills they lack, why their resumes get rejected, or how well they fit into different career paths. This confusion lowers confidence and affects employability.</a:t>
            </a:r>
          </a:p>
          <a:p>
            <a:pPr algn="just"/>
            <a:r>
              <a:rPr lang="en-US" sz="2400" dirty="0">
                <a:latin typeface="Times New Roman" panose="02020603050405020304" pitchFamily="18" charset="0"/>
                <a:cs typeface="Times New Roman" panose="02020603050405020304" pitchFamily="18" charset="0"/>
              </a:rPr>
              <a:t>To address these challenges, this project proposes an AI-driven system that analyzes resumes, identifies skill gaps, evaluates job fitment, and provides clear rejection reasons. Along with this, an AI Interviewer offers personalized interview preparation, creating a complete, student-focused solution to improve placement readiness and overall career outcomes.</a:t>
            </a:r>
          </a:p>
        </p:txBody>
      </p:sp>
      <p:sp>
        <p:nvSpPr>
          <p:cNvPr id="4" name="Date Placeholder 3"/>
          <p:cNvSpPr>
            <a:spLocks noGrp="1"/>
          </p:cNvSpPr>
          <p:nvPr>
            <p:ph type="dt" sz="half" idx="10"/>
          </p:nvPr>
        </p:nvSpPr>
        <p:spPr/>
        <p:txBody>
          <a:bodyPr/>
          <a:lstStyle/>
          <a:p>
            <a:r>
              <a:rPr lang="en-US" altLang="en-IN"/>
              <a:t>End Sem</a:t>
            </a:r>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2</a:t>
            </a:fld>
            <a:endParaRPr lang="en-IN"/>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Existing System</a:t>
            </a:r>
            <a:endParaRPr lang="en-IN" sz="2800" dirty="0"/>
          </a:p>
        </p:txBody>
      </p:sp>
      <p:sp>
        <p:nvSpPr>
          <p:cNvPr id="3" name="Content Placeholder 2"/>
          <p:cNvSpPr>
            <a:spLocks noGrp="1"/>
          </p:cNvSpPr>
          <p:nvPr>
            <p:ph idx="1"/>
          </p:nvPr>
        </p:nvSpPr>
        <p:spPr>
          <a:xfrm>
            <a:off x="755651" y="1652337"/>
            <a:ext cx="10668000" cy="4367463"/>
          </a:xfrm>
        </p:spPr>
        <p:txBody>
          <a:bodyPr/>
          <a:lstStyle/>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today’s recruitment process, most companies use ATS tools that mainly rely on keyword matching to filter resumes. </a:t>
            </a:r>
          </a:p>
          <a:p>
            <a:pPr algn="just"/>
            <a:r>
              <a:rPr lang="en-US" sz="2400" dirty="0">
                <a:latin typeface="Times New Roman" panose="02020603050405020304" pitchFamily="18" charset="0"/>
                <a:cs typeface="Times New Roman" panose="02020603050405020304" pitchFamily="18" charset="0"/>
              </a:rPr>
              <a:t>Popular platforms like LinkedIn Talent Insights, Naukri Recruiter, Indeed Screening, Zoho Recruit, Workday, and Taleo focus on keywords but do not deeply assess real skills, identify gaps, provide job-fit scoring, or explain rejection reasons. </a:t>
            </a:r>
          </a:p>
          <a:p>
            <a:pPr algn="just"/>
            <a:r>
              <a:rPr lang="en-US" sz="2400" dirty="0">
                <a:latin typeface="Times New Roman" panose="02020603050405020304" pitchFamily="18" charset="0"/>
                <a:cs typeface="Times New Roman" panose="02020603050405020304" pitchFamily="18" charset="0"/>
              </a:rPr>
              <a:t>They also lack interview preparation features, leaving candidates unaware of what skills they miss or why their resume was rejected.</a:t>
            </a:r>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3</a:t>
            </a:fld>
            <a:endParaRPr lang="en-IN"/>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Objectives</a:t>
            </a:r>
            <a:endParaRPr lang="en-IN" sz="2800" dirty="0"/>
          </a:p>
        </p:txBody>
      </p:sp>
      <p:sp>
        <p:nvSpPr>
          <p:cNvPr id="3" name="Content Placeholder 2"/>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The objective of this project is to build an AI-based system that helps candidates understand their skills, job suitability, and areas needing improvement. The system focuses on identifying skill gaps, predicting suitable roles, explaining rejection reasons, and generating interview questions for better preparation.</a:t>
            </a:r>
          </a:p>
          <a:p>
            <a:pPr marL="0" indent="0" algn="just">
              <a:buNone/>
            </a:pPr>
            <a:r>
              <a:rPr lang="en-US" sz="2400" b="1" dirty="0">
                <a:latin typeface="Times New Roman" panose="02020603050405020304" pitchFamily="18" charset="0"/>
                <a:cs typeface="Times New Roman" panose="02020603050405020304" pitchFamily="18" charset="0"/>
              </a:rPr>
              <a:t>Key Objectives: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identify missing skills for selected job roles.</a:t>
            </a:r>
          </a:p>
          <a:p>
            <a:pPr algn="just"/>
            <a:r>
              <a:rPr lang="en-US" sz="2400" dirty="0">
                <a:latin typeface="Times New Roman" panose="02020603050405020304" pitchFamily="18" charset="0"/>
                <a:cs typeface="Times New Roman" panose="02020603050405020304" pitchFamily="18" charset="0"/>
              </a:rPr>
              <a:t>To predict best-fit roles using similarity and ML models.</a:t>
            </a:r>
          </a:p>
          <a:p>
            <a:pPr algn="just"/>
            <a:r>
              <a:rPr lang="en-US" sz="2400" dirty="0">
                <a:latin typeface="Times New Roman" panose="02020603050405020304" pitchFamily="18" charset="0"/>
                <a:cs typeface="Times New Roman" panose="02020603050405020304" pitchFamily="18" charset="0"/>
              </a:rPr>
              <a:t>To provide clear rejection reasoning based on company requirements.</a:t>
            </a:r>
          </a:p>
          <a:p>
            <a:pPr algn="just"/>
            <a:r>
              <a:rPr lang="en-US" sz="2400" dirty="0">
                <a:latin typeface="Times New Roman" panose="02020603050405020304" pitchFamily="18" charset="0"/>
                <a:cs typeface="Times New Roman" panose="02020603050405020304" pitchFamily="18" charset="0"/>
              </a:rPr>
              <a:t>To generate personalized, role-specific interview questions.</a:t>
            </a:r>
          </a:p>
          <a:p>
            <a:pPr marL="0" marR="0" lvl="0" indent="0" algn="l" defTabSz="914400" rtl="0" eaLnBrk="0" fontAlgn="base" latinLnBrk="0" hangingPunct="0">
              <a:lnSpc>
                <a:spcPct val="100000"/>
              </a:lnSpc>
              <a:spcBef>
                <a:spcPct val="20000"/>
              </a:spcBef>
              <a:spcAft>
                <a:spcPct val="0"/>
              </a:spcAft>
              <a:buClr>
                <a:srgbClr val="CC0000"/>
              </a:buClr>
              <a:buSzTx/>
              <a:buNone/>
              <a:defRPr/>
            </a:pP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4</a:t>
            </a:fld>
            <a:endParaRPr lang="en-IN"/>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Abstract</a:t>
            </a:r>
            <a:endParaRPr lang="en-IN" sz="2800" dirty="0"/>
          </a:p>
        </p:txBody>
      </p:sp>
      <p:sp>
        <p:nvSpPr>
          <p:cNvPr id="3" name="Content Placeholder 2"/>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This project introduces an AI-driven system that improves career readiness by analyzing resumes and checking how well a candidate matches different job roles. Using NLP and machine learning, it extracts skills, identifies missing and matched skills, and predicts suitable roles through similarity scoring. It also provides clear rejection reasons by comparing selected and rejected resumes with company requirements. An integrated AI Interviewer generates role-specific and skill-based questions for personalized interview preparation. Overall, the system helps students and job seekers understand skill gaps, improve employability, and prepare effectively for industry expectations.</a:t>
            </a:r>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5</a:t>
            </a:fld>
            <a:endParaRPr lang="en-IN"/>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A</a:t>
            </a:r>
            <a:r>
              <a:rPr lang="en-US" altLang="en-IN" sz="3200" b="1" dirty="0">
                <a:solidFill>
                  <a:srgbClr val="FF0000"/>
                </a:solidFill>
              </a:rPr>
              <a:t>rchitecture(framework)</a:t>
            </a: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defRPr/>
            </a:pP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6</a:t>
            </a:fld>
            <a:endParaRPr lang="en-IN"/>
          </a:p>
        </p:txBody>
      </p:sp>
      <p:pic>
        <p:nvPicPr>
          <p:cNvPr id="7" name="Content Placeholder 7">
            <a:extLst>
              <a:ext uri="{FF2B5EF4-FFF2-40B4-BE49-F238E27FC236}">
                <a16:creationId xmlns:a16="http://schemas.microsoft.com/office/drawing/2014/main" id="{3E255638-44F5-9395-D923-C9B81C82FA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1431005" y="1821769"/>
            <a:ext cx="9078686" cy="431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solidFill>
                  <a:srgbClr val="FF0000"/>
                </a:solidFill>
              </a:rPr>
              <a:t>Module 1 : Skill Gap Detection</a:t>
            </a:r>
            <a:endParaRPr lang="en-US" altLang="en-IN" sz="3200" b="1" dirty="0">
              <a:solidFill>
                <a:srgbClr val="FF0000"/>
              </a:solidFill>
            </a:endParaRPr>
          </a:p>
        </p:txBody>
      </p:sp>
      <p:sp>
        <p:nvSpPr>
          <p:cNvPr id="3" name="Content Placeholder 2"/>
          <p:cNvSpPr>
            <a:spLocks noGrp="1"/>
          </p:cNvSpPr>
          <p:nvPr>
            <p:ph idx="1"/>
          </p:nvPr>
        </p:nvSpPr>
        <p:spPr/>
        <p:txBody>
          <a:bodyPr/>
          <a:lstStyle/>
          <a:p>
            <a:pPr algn="just">
              <a:buClr>
                <a:srgbClr val="CC0000"/>
              </a:buClr>
              <a:buFont typeface="Wingdings" panose="05000000000000000000" pitchFamily="2" charset="2"/>
              <a:buChar char="q"/>
              <a:defRPr/>
            </a:pPr>
            <a:endParaRPr lang="en-US" sz="2400" dirty="0">
              <a:latin typeface="Times New Roman" panose="02020603050405020304" pitchFamily="18" charset="0"/>
              <a:cs typeface="Times New Roman" panose="02020603050405020304" pitchFamily="18" charset="0"/>
            </a:endParaRPr>
          </a:p>
          <a:p>
            <a:pPr algn="just">
              <a:buClr>
                <a:srgbClr val="CC0000"/>
              </a:buClr>
              <a:buFont typeface="Wingdings" panose="05000000000000000000" pitchFamily="2" charset="2"/>
              <a:buChar char="q"/>
              <a:defRPr/>
            </a:pPr>
            <a:r>
              <a:rPr lang="en-US" sz="2400" dirty="0">
                <a:latin typeface="Times New Roman" panose="02020603050405020304" pitchFamily="18" charset="0"/>
                <a:cs typeface="Times New Roman" panose="02020603050405020304" pitchFamily="18" charset="0"/>
              </a:rPr>
              <a:t>This module identifies the gap between a candidate’s skills and the skills required for a job role. Resumes in PDF or DOCX format are extracted using </a:t>
            </a:r>
            <a:r>
              <a:rPr lang="en-US" sz="2400" dirty="0" err="1">
                <a:latin typeface="Times New Roman" panose="02020603050405020304" pitchFamily="18" charset="0"/>
                <a:cs typeface="Times New Roman" panose="02020603050405020304" pitchFamily="18" charset="0"/>
              </a:rPr>
              <a:t>PyMuPDF</a:t>
            </a:r>
            <a:r>
              <a:rPr lang="en-US" sz="2400" dirty="0">
                <a:latin typeface="Times New Roman" panose="02020603050405020304" pitchFamily="18" charset="0"/>
                <a:cs typeface="Times New Roman" panose="02020603050405020304" pitchFamily="18" charset="0"/>
              </a:rPr>
              <a:t> and python-docx, then cleaned and processed with </a:t>
            </a:r>
            <a:r>
              <a:rPr lang="en-US" sz="2400" dirty="0" err="1">
                <a:latin typeface="Times New Roman" panose="02020603050405020304" pitchFamily="18" charset="0"/>
                <a:cs typeface="Times New Roman" panose="02020603050405020304" pitchFamily="18" charset="0"/>
              </a:rPr>
              <a:t>spaCy</a:t>
            </a:r>
            <a:r>
              <a:rPr lang="en-US" sz="2400" dirty="0">
                <a:latin typeface="Times New Roman" panose="02020603050405020304" pitchFamily="18" charset="0"/>
                <a:cs typeface="Times New Roman" panose="02020603050405020304" pitchFamily="18" charset="0"/>
              </a:rPr>
              <a:t>. </a:t>
            </a:r>
          </a:p>
          <a:p>
            <a:pPr algn="just">
              <a:buClr>
                <a:srgbClr val="CC0000"/>
              </a:buClr>
              <a:buFont typeface="Wingdings" panose="05000000000000000000" pitchFamily="2" charset="2"/>
              <a:buChar char="q"/>
              <a:defRPr/>
            </a:pPr>
            <a:r>
              <a:rPr lang="en-US" sz="2400" dirty="0">
                <a:latin typeface="Times New Roman" panose="02020603050405020304" pitchFamily="18" charset="0"/>
                <a:cs typeface="Times New Roman" panose="02020603050405020304" pitchFamily="18" charset="0"/>
              </a:rPr>
              <a:t>Skills are converted into TF-IDF vectors and compared with job role descriptions using cosine similarity to find matched and missing skills. </a:t>
            </a:r>
          </a:p>
          <a:p>
            <a:pPr algn="just">
              <a:buClr>
                <a:srgbClr val="CC0000"/>
              </a:buClr>
              <a:buFont typeface="Wingdings" panose="05000000000000000000" pitchFamily="2" charset="2"/>
              <a:buChar char="q"/>
              <a:defRPr/>
            </a:pPr>
            <a:r>
              <a:rPr lang="en-US" sz="2400" dirty="0">
                <a:latin typeface="Times New Roman" panose="02020603050405020304" pitchFamily="18" charset="0"/>
                <a:cs typeface="Times New Roman" panose="02020603050405020304" pitchFamily="18" charset="0"/>
              </a:rPr>
              <a:t>The results are shown through pie charts and bar graphs, giving candidates a clear view of their strengths and areas that need improvement.</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7</a:t>
            </a:fld>
            <a:endParaRPr lang="en-IN"/>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E7495-1945-BF44-1B60-DEC80622E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65EFB-9E0A-B3D3-7B5D-918733ABCA07}"/>
              </a:ext>
            </a:extLst>
          </p:cNvPr>
          <p:cNvSpPr>
            <a:spLocks noGrp="1"/>
          </p:cNvSpPr>
          <p:nvPr>
            <p:ph type="title"/>
          </p:nvPr>
        </p:nvSpPr>
        <p:spPr/>
        <p:txBody>
          <a:bodyPr/>
          <a:lstStyle/>
          <a:p>
            <a:r>
              <a:rPr lang="en-IN" sz="3200" b="1" dirty="0">
                <a:solidFill>
                  <a:srgbClr val="FF0000"/>
                </a:solidFill>
              </a:rPr>
              <a:t>Module 2 : Candidate Fitment Analysis</a:t>
            </a:r>
            <a:endParaRPr lang="en-US" altLang="en-IN" sz="3200" b="1" dirty="0">
              <a:solidFill>
                <a:srgbClr val="FF0000"/>
              </a:solidFill>
            </a:endParaRPr>
          </a:p>
        </p:txBody>
      </p:sp>
      <p:sp>
        <p:nvSpPr>
          <p:cNvPr id="3" name="Content Placeholder 2">
            <a:extLst>
              <a:ext uri="{FF2B5EF4-FFF2-40B4-BE49-F238E27FC236}">
                <a16:creationId xmlns:a16="http://schemas.microsoft.com/office/drawing/2014/main" id="{5D0B6807-E60F-0462-FE92-3E9B25677CAD}"/>
              </a:ext>
            </a:extLst>
          </p:cNvPr>
          <p:cNvSpPr>
            <a:spLocks noGrp="1"/>
          </p:cNvSpPr>
          <p:nvPr>
            <p:ph idx="1"/>
          </p:nvPr>
        </p:nvSpPr>
        <p:spPr/>
        <p:txBody>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second module predicts and ranks the most suitable job roles for each candidate based on their skill set. Both resume data and job role descriptions are converted into numerical vectors using TF-IDF. Cosine similarity is applied to measure the degree of alignment between candidate skills and job requirements. </a:t>
            </a: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top-ranked job recommendations are displayed through bar charts, helping candidates visualize how closely they match different positions. This module ensures data-driven job role recommendations that guide candidates toward roles best aligned with their capabilities.</a:t>
            </a:r>
            <a:endParaRPr lang="en-IN" sz="2400"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q"/>
              <a:defRPr/>
            </a:pPr>
            <a:endParaRPr kumimoji="0" lang="en-IN" altLang="en-US" sz="240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31D821C-0D06-3F6B-0974-8FF7561B23E0}"/>
              </a:ext>
            </a:extLst>
          </p:cNvPr>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a:extLst>
              <a:ext uri="{FF2B5EF4-FFF2-40B4-BE49-F238E27FC236}">
                <a16:creationId xmlns:a16="http://schemas.microsoft.com/office/drawing/2014/main" id="{95BBA31D-CC87-9F55-5A24-ED6289E42676}"/>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35D05FED-5F41-77CE-D10B-8A412DBEF704}"/>
              </a:ext>
            </a:extLst>
          </p:cNvPr>
          <p:cNvSpPr>
            <a:spLocks noGrp="1"/>
          </p:cNvSpPr>
          <p:nvPr>
            <p:ph type="sldNum" sz="quarter" idx="12"/>
          </p:nvPr>
        </p:nvSpPr>
        <p:spPr/>
        <p:txBody>
          <a:bodyPr/>
          <a:lstStyle/>
          <a:p>
            <a:fld id="{5AB9ECBD-B4DD-40D5-8D24-9ECCDBB1583E}" type="slidenum">
              <a:rPr lang="en-IN" smtClean="0"/>
              <a:t>8</a:t>
            </a:fld>
            <a:endParaRPr lang="en-IN"/>
          </a:p>
        </p:txBody>
      </p:sp>
    </p:spTree>
    <p:extLst>
      <p:ext uri="{BB962C8B-B14F-4D97-AF65-F5344CB8AC3E}">
        <p14:creationId xmlns:p14="http://schemas.microsoft.com/office/powerpoint/2010/main" val="1511938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7C2A0-8F72-86A1-3289-A6C22AD195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D9BAE-7F60-8AAD-0971-06B603A61D18}"/>
              </a:ext>
            </a:extLst>
          </p:cNvPr>
          <p:cNvSpPr>
            <a:spLocks noGrp="1"/>
          </p:cNvSpPr>
          <p:nvPr>
            <p:ph type="title"/>
          </p:nvPr>
        </p:nvSpPr>
        <p:spPr/>
        <p:txBody>
          <a:bodyPr/>
          <a:lstStyle/>
          <a:p>
            <a:r>
              <a:rPr lang="en-IN" sz="3200" b="1" dirty="0">
                <a:solidFill>
                  <a:srgbClr val="FF0000"/>
                </a:solidFill>
              </a:rPr>
              <a:t>Module 3 : Resume Rejection Reasoning</a:t>
            </a:r>
            <a:endParaRPr lang="en-US" altLang="en-IN" sz="3200" b="1" dirty="0">
              <a:solidFill>
                <a:srgbClr val="FF0000"/>
              </a:solidFill>
            </a:endParaRPr>
          </a:p>
        </p:txBody>
      </p:sp>
      <p:sp>
        <p:nvSpPr>
          <p:cNvPr id="3" name="Content Placeholder 2">
            <a:extLst>
              <a:ext uri="{FF2B5EF4-FFF2-40B4-BE49-F238E27FC236}">
                <a16:creationId xmlns:a16="http://schemas.microsoft.com/office/drawing/2014/main" id="{6EEB34D5-BEE2-8265-0673-AD1ED0275CBA}"/>
              </a:ext>
            </a:extLst>
          </p:cNvPr>
          <p:cNvSpPr>
            <a:spLocks noGrp="1"/>
          </p:cNvSpPr>
          <p:nvPr>
            <p:ph idx="1"/>
          </p:nvPr>
        </p:nvSpPr>
        <p:spPr/>
        <p:txBody>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third module aims to provide clarity on why certain resumes are rejected while others are selected for the same job role. Using </a:t>
            </a:r>
            <a:r>
              <a:rPr lang="en-US" sz="2400" dirty="0" err="1">
                <a:latin typeface="Times New Roman" panose="02020603050405020304" pitchFamily="18" charset="0"/>
                <a:cs typeface="Times New Roman" panose="02020603050405020304" pitchFamily="18" charset="0"/>
              </a:rPr>
              <a:t>spaCy</a:t>
            </a:r>
            <a:r>
              <a:rPr lang="en-US" sz="2400" dirty="0">
                <a:latin typeface="Times New Roman" panose="02020603050405020304" pitchFamily="18" charset="0"/>
                <a:cs typeface="Times New Roman" panose="02020603050405020304" pitchFamily="18" charset="0"/>
              </a:rPr>
              <a:t>, the resumes are tokenized, cleaned, and categorized into technical, soft, and domain-specific skill groups. </a:t>
            </a: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 comparative analysis is then performed between selected and rejected resumes using cosine similarity or the Jaccard index to identify key skill deficiencies or missing qualifications. The insights are visualized which illustrate rejection causes and highlight areas for improvement. This module provides candidates with transparent feedback and actionable insights, helping them enhance their profiles and increase their chances of selection in future applications.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1AACC5F-FFBB-67A8-863E-C6098CC215E9}"/>
              </a:ext>
            </a:extLst>
          </p:cNvPr>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a:extLst>
              <a:ext uri="{FF2B5EF4-FFF2-40B4-BE49-F238E27FC236}">
                <a16:creationId xmlns:a16="http://schemas.microsoft.com/office/drawing/2014/main" id="{3B00B43B-F267-A80A-592D-97945688C1E1}"/>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485E8C17-1ACB-B5A7-1672-4759610BA3F0}"/>
              </a:ext>
            </a:extLst>
          </p:cNvPr>
          <p:cNvSpPr>
            <a:spLocks noGrp="1"/>
          </p:cNvSpPr>
          <p:nvPr>
            <p:ph type="sldNum" sz="quarter" idx="12"/>
          </p:nvPr>
        </p:nvSpPr>
        <p:spPr/>
        <p:txBody>
          <a:bodyPr/>
          <a:lstStyle/>
          <a:p>
            <a:fld id="{5AB9ECBD-B4DD-40D5-8D24-9ECCDBB1583E}" type="slidenum">
              <a:rPr lang="en-IN" smtClean="0"/>
              <a:t>9</a:t>
            </a:fld>
            <a:endParaRPr lang="en-IN"/>
          </a:p>
        </p:txBody>
      </p:sp>
    </p:spTree>
    <p:extLst>
      <p:ext uri="{BB962C8B-B14F-4D97-AF65-F5344CB8AC3E}">
        <p14:creationId xmlns:p14="http://schemas.microsoft.com/office/powerpoint/2010/main" val="120125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CE87-DCCA-BF00-0242-5185F10DF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34291-A979-725C-DBB8-7FC88D05F7DB}"/>
              </a:ext>
            </a:extLst>
          </p:cNvPr>
          <p:cNvSpPr>
            <a:spLocks noGrp="1"/>
          </p:cNvSpPr>
          <p:nvPr>
            <p:ph type="title"/>
          </p:nvPr>
        </p:nvSpPr>
        <p:spPr/>
        <p:txBody>
          <a:bodyPr/>
          <a:lstStyle/>
          <a:p>
            <a:r>
              <a:rPr lang="en-IN" sz="3200" b="1" dirty="0">
                <a:solidFill>
                  <a:srgbClr val="FF0000"/>
                </a:solidFill>
              </a:rPr>
              <a:t>Module 4 : AI Interviewer</a:t>
            </a:r>
            <a:endParaRPr lang="en-US" altLang="en-IN" sz="3200" b="1" dirty="0">
              <a:solidFill>
                <a:srgbClr val="FF0000"/>
              </a:solidFill>
            </a:endParaRPr>
          </a:p>
        </p:txBody>
      </p:sp>
      <p:sp>
        <p:nvSpPr>
          <p:cNvPr id="3" name="Content Placeholder 2">
            <a:extLst>
              <a:ext uri="{FF2B5EF4-FFF2-40B4-BE49-F238E27FC236}">
                <a16:creationId xmlns:a16="http://schemas.microsoft.com/office/drawing/2014/main" id="{C5258718-643F-DB95-4CB2-EFC074A96FC4}"/>
              </a:ext>
            </a:extLst>
          </p:cNvPr>
          <p:cNvSpPr>
            <a:spLocks noGrp="1"/>
          </p:cNvSpPr>
          <p:nvPr>
            <p:ph idx="1"/>
          </p:nvPr>
        </p:nvSpPr>
        <p:spPr/>
        <p:txBody>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fourth module acts as a virtual interviewer, designed to simulate AI-based interview sessions tailored to each candidate’s profile and target role. It analyzes resume content and job role data to identify relevant technical and behavioral areas. Based on this, the system generates customized interview questions using AI-driven templates. </a:t>
            </a: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Candidates then engage in an interactive simulation, where their responses are evaluated through NLP-based scoring models that assess accuracy, confidence, and relevance. Finally, visual performance reports display overall feedback and improvement areas.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0BAF67-74FD-5ABE-9C77-799F0D9475D8}"/>
              </a:ext>
            </a:extLst>
          </p:cNvPr>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a:extLst>
              <a:ext uri="{FF2B5EF4-FFF2-40B4-BE49-F238E27FC236}">
                <a16:creationId xmlns:a16="http://schemas.microsoft.com/office/drawing/2014/main" id="{165CF77F-098F-3D2F-DF3C-8A90C27B90EE}"/>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1DD28A60-B4C1-B647-1ECC-5E62B62CFE2B}"/>
              </a:ext>
            </a:extLst>
          </p:cNvPr>
          <p:cNvSpPr>
            <a:spLocks noGrp="1"/>
          </p:cNvSpPr>
          <p:nvPr>
            <p:ph type="sldNum" sz="quarter" idx="12"/>
          </p:nvPr>
        </p:nvSpPr>
        <p:spPr/>
        <p:txBody>
          <a:bodyPr/>
          <a:lstStyle/>
          <a:p>
            <a:fld id="{5AB9ECBD-B4DD-40D5-8D24-9ECCDBB1583E}" type="slidenum">
              <a:rPr lang="en-IN" smtClean="0"/>
              <a:t>10</a:t>
            </a:fld>
            <a:endParaRPr lang="en-IN"/>
          </a:p>
        </p:txBody>
      </p:sp>
    </p:spTree>
    <p:extLst>
      <p:ext uri="{BB962C8B-B14F-4D97-AF65-F5344CB8AC3E}">
        <p14:creationId xmlns:p14="http://schemas.microsoft.com/office/powerpoint/2010/main" val="2434477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Conclusion</a:t>
            </a:r>
          </a:p>
        </p:txBody>
      </p:sp>
      <p:sp>
        <p:nvSpPr>
          <p:cNvPr id="3" name="Content Placeholder 2"/>
          <p:cNvSpPr>
            <a:spLocks noGrp="1"/>
          </p:cNvSpPr>
          <p:nvPr>
            <p:ph idx="1"/>
          </p:nvPr>
        </p:nvSpPr>
        <p:spPr/>
        <p:txBody>
          <a:bodyPr/>
          <a:lstStyle/>
          <a:p>
            <a:pPr algn="just">
              <a:buClr>
                <a:srgbClr val="CC0000"/>
              </a:buClr>
              <a:defRPr/>
            </a:pPr>
            <a:r>
              <a:rPr lang="en-US" sz="2400" dirty="0">
                <a:latin typeface="Times New Roman" panose="02020603050405020304" pitchFamily="18" charset="0"/>
                <a:cs typeface="Times New Roman" panose="02020603050405020304" pitchFamily="18" charset="0"/>
              </a:rPr>
              <a:t>This project successfully integrates NLP and machine learning to create a complete, AI-driven resume analysis and career guidance system. By detecting skill gaps, evaluating job fitment, explaining rejection reasons, and generating personalized interview questions, the system offers a transparent and structured approach to career readiness. It not only helps students and job seekers understand where they stand but also guides them with actionable insights for improvement. The combined modules make the platform a powerful tool for enhancing employability, supporting informed decision-making, and preparing candidates more effectively for real-world opportunities.</a:t>
            </a:r>
          </a:p>
          <a:p>
            <a:pPr marL="0" marR="0" lvl="0" indent="0" algn="just" defTabSz="914400" rtl="0" eaLnBrk="0" fontAlgn="base" latinLnBrk="0" hangingPunct="0">
              <a:lnSpc>
                <a:spcPct val="100000"/>
              </a:lnSpc>
              <a:spcBef>
                <a:spcPct val="20000"/>
              </a:spcBef>
              <a:spcAft>
                <a:spcPct val="0"/>
              </a:spcAft>
              <a:buClr>
                <a:srgbClr val="CC0000"/>
              </a:buClr>
              <a:buSzTx/>
              <a:buNone/>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11</a:t>
            </a:fld>
            <a:endParaRPr lang="en-IN"/>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pPr>
              <a:defRPr/>
            </a:pPr>
            <a:endParaRPr lang="en-US"/>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t>12</a:t>
            </a:fld>
            <a:endParaRPr lang="en-US" altLang="en-US" dirty="0"/>
          </a:p>
        </p:txBody>
      </p:sp>
      <p:sp>
        <p:nvSpPr>
          <p:cNvPr id="5" name="Date Placeholder 4"/>
          <p:cNvSpPr>
            <a:spLocks noGrp="1"/>
          </p:cNvSpPr>
          <p:nvPr>
            <p:ph type="dt" sz="half" idx="10"/>
          </p:nvPr>
        </p:nvSpPr>
        <p:spPr/>
        <p:txBody>
          <a:bodyPr/>
          <a:lstStyle/>
          <a:p>
            <a:pPr>
              <a:defRPr/>
            </a:pPr>
            <a:r>
              <a:rPr lang="en-US" altLang="en-IN">
                <a:sym typeface="+mn-ea"/>
              </a:rPr>
              <a:t>End Sem</a:t>
            </a:r>
            <a:endParaRPr lang="en-US" altLang="en-IN"/>
          </a:p>
          <a:p>
            <a:pPr>
              <a:defRPr/>
            </a:pPr>
            <a:endParaRPr lang="en-US"/>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31</TotalTime>
  <Words>1066</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Times New Roman</vt:lpstr>
      <vt:lpstr>Verdana</vt:lpstr>
      <vt:lpstr>Wingdings</vt:lpstr>
      <vt:lpstr>Profile</vt:lpstr>
      <vt:lpstr>PowerPoint Presentation</vt:lpstr>
      <vt:lpstr>Problem Statement and Motivation</vt:lpstr>
      <vt:lpstr>Existing System</vt:lpstr>
      <vt:lpstr>Objectives</vt:lpstr>
      <vt:lpstr>Abstract</vt:lpstr>
      <vt:lpstr>Architecture(framework)</vt:lpstr>
      <vt:lpstr>Module 1 : Skill Gap Detection</vt:lpstr>
      <vt:lpstr>Module 2 : Candidate Fitment Analysis</vt:lpstr>
      <vt:lpstr>Module 3 : Resume Rejection Reasoning</vt:lpstr>
      <vt:lpstr>Module 4 : AI Interviewer</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Tanushri G V S</cp:lastModifiedBy>
  <cp:revision>9</cp:revision>
  <dcterms:created xsi:type="dcterms:W3CDTF">2025-11-22T14:54:41Z</dcterms:created>
  <dcterms:modified xsi:type="dcterms:W3CDTF">2025-11-26T15:25:57Z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1033-5.0.0.7908</vt:lpwstr>
  </property>
</Properties>
</file>